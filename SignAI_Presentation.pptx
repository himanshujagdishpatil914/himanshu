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754880" cy="678484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73152"/>
            <a:ext cx="54864" cy="678484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18CF8"/>
                </a:solidFill>
              </a:rPr>
              <a:t>SignAI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108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DEFB"/>
                </a:solidFill>
              </a:rPr>
              <a:t>Real-Time AI Sign Language Translator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1783080" cy="38404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3133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🧠 Deep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794760"/>
            <a:ext cx="1783080" cy="38404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83133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🤟 40 Signs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06824"/>
            <a:ext cx="1783080" cy="3840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🔊 Text-to-Speech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306824"/>
            <a:ext cx="1783080" cy="38404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43434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💬 Sentence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02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18CF8"/>
                </a:solidFill>
              </a:rPr>
              <a:t>Final Year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96012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SignAI: Real-Time AI-Powered
Sign Language Translator
with Text-to-Speech
&amp; Sentence 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3291840"/>
            <a:ext cx="667512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3429000"/>
            <a:ext cx="6675120" cy="178308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8CF8"/>
                </a:solidFill>
              </a:rPr>
              <a:t>👤  Submitted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5661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Himanshu Jagdish Patil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950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8CF8"/>
                </a:solidFill>
              </a:rPr>
              <a:t>🎓  Roll No. / Batch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9502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CS2024001  |  2021–2025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3342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8CF8"/>
                </a:solidFill>
              </a:rPr>
              <a:t>👨‍🏫  Project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342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Prof. [Guide Name], CSE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718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8CF8"/>
                </a:solidFill>
              </a:rPr>
              <a:t>🏛️  Department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7183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CSE (AI &amp; ML)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Department of Computer Science &amp; Engineering (AI &amp; ML)  |  Shri XYZ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640080" cy="74980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Introduction &amp; 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640080" cy="74980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Project 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95144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295144"/>
            <a:ext cx="640080" cy="74980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4780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Technology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295144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295144"/>
            <a:ext cx="640080" cy="7498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04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4780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System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72968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172968"/>
            <a:ext cx="640080" cy="74980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8269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3355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How It Works — AI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72968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3172968"/>
            <a:ext cx="640080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28269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3355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Data Collection &amp; Training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50791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050791"/>
            <a:ext cx="640080" cy="74980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0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423367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Backend &amp; Frontend Implementation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50791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4050791"/>
            <a:ext cx="640080" cy="7498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160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423367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Results &amp; Accuracy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928616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4928616"/>
            <a:ext cx="640080" cy="74980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3834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" y="51114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Comparison with Existing Systems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928616"/>
            <a:ext cx="5486400" cy="74980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09360" y="4928616"/>
            <a:ext cx="640080" cy="74980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03834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1114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Future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The communication barrier we are solving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606040" cy="13716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466M+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People with
hearing loss
worldwide (WHO)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606040" cy="13716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214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Deaf people
use sign language
globally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2606040" cy="13716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&lt;5%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214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Hearing people
can understand
sign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371600"/>
            <a:ext cx="2606040" cy="13716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214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Cost of human
sign language
interpreters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2608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17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Current Challenges: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29000"/>
            <a:ext cx="3566160" cy="1170432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❶  Hardware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84962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Existing systems require expensive data gloves or depth sensors (Kinect, Leap Motion).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429000"/>
            <a:ext cx="3566160" cy="1170432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❷  Limited Vocabulary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84962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Most systems handle only 24–26 static alphabet letters — not real-world phrases.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429000"/>
            <a:ext cx="3566160" cy="1170432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❸  No Temporal Modelling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84962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Static CNN approaches miss the motion-over-time nature of dynamic signs.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846320"/>
            <a:ext cx="5303520" cy="1170432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❹  No End-to-End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26694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No system combines real-time detection + sentence building + text-to-speech in a web app.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4846320"/>
            <a:ext cx="5303520" cy="1170432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❺  Poor Accessibility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526694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Research systems are lab-only and not deployable for everyday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What SignAI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03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Real-Time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6888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Detect 40 ASL signs in real time
using a standard webcam — no special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976" y="1417320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1417320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103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Dual-Hand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246888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Extract 126 keypoints per frame
(63 per hand) for comprehensive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17320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417320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03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High Accuracy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Train a Stacked LSTM model to
achieve ≥ 95% classification 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1417320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1417320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149047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103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Low Latency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46888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End-to-end prediction latency
under 200ms at 15 fps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630168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630168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31596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Text-to-Speech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6817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Convert detected signs to speech
using Google TTS + browser fallback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6976" y="3630168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36976" y="3630168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431596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Sentence Builder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6704" y="46817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Accumulate detected signs into
full sentences with word/sentence modes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3630168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9632" y="3630168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31596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Full Web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6817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Build React.js + FastAPI full-stack
app accessible from any browser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288" y="3630168"/>
            <a:ext cx="2743200" cy="202996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62288" y="3630168"/>
            <a:ext cx="274320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6" y="431596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Rigorous Evaluation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46817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Report precision, recall, F1-score,
confusion matrix and system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Tools and frameworks powering SignAI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356616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</a:rPr>
              <a:t>🐍 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12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FastAPI  v0.111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1226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WebSocket + REST API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96896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517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TensorFlow  v2.16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651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LSTM model training &amp;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36391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91255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MediaPipe  v0.10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191255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21-landmark hand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75887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3075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OpenCV  v4.9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3730751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Frame decode &amp; colour convert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15383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7024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gTTS  v2.5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27024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Google Text-to-Speech (MP3)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54879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0974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976D2"/>
                </a:solidFill>
              </a:rPr>
              <a:t>Uvicorn  v0.29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4809743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ASGI production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94376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4242"/>
                </a:solidFill>
              </a:rPr>
              <a:t>NumPy  v1.26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53492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Keypoint array processing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33872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8887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scikit-learn  v1.4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888736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Dataset split &amp;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1371600"/>
            <a:ext cx="356616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⚛️  FRONTEND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192024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43400" y="2057400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112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React  v18.3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211226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Core UI component library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2596896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26517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react-webcam  v7.2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2651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Browser webcam stream access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136391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191255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Framer Motion v11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70448" y="3191255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Smooth sign animations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3675887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373075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WebSocket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3730751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Real-time prediction streaming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215383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427024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Google TTS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0448" y="427024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Speech synthesis endpoint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4754879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480974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Custom CSS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70448" y="4809743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Dark glassmorphism theme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5294376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5349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4242"/>
                </a:solidFill>
              </a:rPr>
              <a:t>lucide-react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70448" y="53492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Icon component library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43400" y="5833872"/>
            <a:ext cx="32004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34840" y="58887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Node.js  v18 LTS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0448" y="5888736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Build &amp; development server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1371600"/>
            <a:ext cx="38404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100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🧠  AI / ML PIPELINE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192024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183879" y="2057400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20" y="21122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Stacked LSTM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3808" y="211226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3-layer temporal classifier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83879" y="2596896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26517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126 Keypoints/Frame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3808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21 landmarks × 3 × 2 hands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83879" y="3136391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75320" y="3191255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30-Frame Window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93808" y="3191255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~2 sec sequence per prediction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83879" y="3675887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20" y="3730751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Batch Normalisation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93808" y="3730751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Training stability &amp; speed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83879" y="4215383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75320" y="4270247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Dropout  (0.3/0.4)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93808" y="4270247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Overfitting prevention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83879" y="4754879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75320" y="4809743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Adam Optimiser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808" y="4809743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lr=0.001, reduce on plateau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83879" y="5294376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75320" y="53492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EarlyStopping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93808" y="534924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Patience=20, best weights saved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5833872"/>
            <a:ext cx="347472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75320" y="588873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40-class Softmax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93808" y="5888736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Confidence score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Three-tier client-server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371600"/>
            <a:ext cx="3657600" cy="507492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" y="1371600"/>
            <a:ext cx="365760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React.js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" y="2148840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221992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Camera.jsx
(Webcam)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2990088"/>
            <a:ext cx="164592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" y="3172968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246120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SignDisplay.jsx
(Results)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4014216"/>
            <a:ext cx="164592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4197096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27024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SentenceBuilder
(TTS)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5038344"/>
            <a:ext cx="164592" cy="1828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5221224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5294376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StatusBar
(WS status)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1371600"/>
            <a:ext cx="3657600" cy="507492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42816" y="1371600"/>
            <a:ext cx="3657600" cy="64008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⚡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FastAPI + 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2148840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2221992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WebSocket
/ws/predict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0176" y="2990088"/>
            <a:ext cx="164592" cy="182880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71416" y="3172968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3246120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MediaPipe
Hands (×2)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0176" y="4014216"/>
            <a:ext cx="164592" cy="182880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71416" y="4197096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427024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LSTM
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0176" y="5038344"/>
            <a:ext cx="164592" cy="182880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71416" y="5221224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5294376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gTTS
/api/tts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3024" y="1371600"/>
            <a:ext cx="3657600" cy="507492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93024" y="1371600"/>
            <a:ext cx="36576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4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🧠 ML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TensorFlow / Keras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21624" y="2148840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2221992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Data Collection
collect_data.py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30384" y="2990088"/>
            <a:ext cx="164592" cy="1828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21624" y="3172968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3246120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Keypoints
(30,126) .npy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30384" y="4014216"/>
            <a:ext cx="164592" cy="1828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21624" y="4197096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21624" y="4270248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Training
train.py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30384" y="5038344"/>
            <a:ext cx="164592" cy="1828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421624" y="5221224"/>
            <a:ext cx="320040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5294376"/>
            <a:ext cx="3200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Model
sign_model.h5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50208" y="2505456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50208" y="3529584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50208" y="4553712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04488" y="301752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57575"/>
                </a:solidFill>
              </a:rPr>
              <a:t>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0416" y="2505456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00416" y="3529584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0416" y="4553712"/>
            <a:ext cx="292608" cy="45720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4696" y="301752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22191" y="60533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366F1"/>
                </a:solidFill>
              </a:rPr>
              <a:t>WebSocket (ws://)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6053328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E7D32"/>
                </a:solidFill>
              </a:rPr>
              <a:t>Local / Offline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 —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From webcam frame to predicted 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08760"/>
            <a:ext cx="1298448" cy="1508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Webcam
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15 fps
640×480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" y="1289304"/>
            <a:ext cx="292608" cy="29260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82496" y="1508760"/>
            <a:ext cx="1298448" cy="15087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2496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Frame
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Base64
JPEG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9072" y="1289304"/>
            <a:ext cx="292608" cy="29260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1508760"/>
            <a:ext cx="1298448" cy="15087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0672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WebSocket
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~5 ms
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1289304"/>
            <a:ext cx="292608" cy="29260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1508760"/>
            <a:ext cx="1298448" cy="15087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MediaPipe
Hands ×2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21 kp × 3
= 63 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5424" y="1289304"/>
            <a:ext cx="292608" cy="29260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07024" y="1508760"/>
            <a:ext cx="1298448" cy="1508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7024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7024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Keypoint
Extraction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126 values
per frame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1289304"/>
            <a:ext cx="292608" cy="2926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1508760"/>
            <a:ext cx="1298448" cy="15087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30-Frame
Window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Sliding
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2792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51776" y="1289304"/>
            <a:ext cx="292608" cy="29260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51776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23376" y="1508760"/>
            <a:ext cx="1298448" cy="15087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23376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23376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LSTM
Inference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3376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3-layer
LSTM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8" y="2103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9952" y="1289304"/>
            <a:ext cx="292608" cy="29260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59952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31552" y="1508760"/>
            <a:ext cx="1298448" cy="15087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31552" y="1581912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1552" y="2075688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Prediction
+ Conf.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256946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Sign name
+ score 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68128" y="1289304"/>
            <a:ext cx="292608" cy="29260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68128" y="12893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24612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74320" y="3383280"/>
            <a:ext cx="2212848" cy="257860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3383280"/>
            <a:ext cx="2212848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47472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🤟 Both Hands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858768"/>
            <a:ext cx="202996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Left + Right hand
extracted separately
Missing = zero-pad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651760" y="3383280"/>
            <a:ext cx="2212848" cy="257860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51760" y="3383280"/>
            <a:ext cx="2212848" cy="5486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347472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📊 126 Features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0" y="3858768"/>
            <a:ext cx="202996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63 values/hand × 2
= 126 total
per frame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0" y="3383280"/>
            <a:ext cx="2212848" cy="257860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29200" y="3383280"/>
            <a:ext cx="2212848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0" y="347472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⏱️ 30 Frames = ~2 sec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0640" y="3858768"/>
            <a:ext cx="202996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At 15 fps, one prediction
requires ~2 sec of
hand movement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06640" y="3383280"/>
            <a:ext cx="2212848" cy="257860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06640" y="3383280"/>
            <a:ext cx="2212848" cy="548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0" y="347472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🎯 75% Threshold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0" y="3858768"/>
            <a:ext cx="202996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Predictions below
75% confidence
are suppressed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84080" y="3383280"/>
            <a:ext cx="2212848" cy="257860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784080" y="3383280"/>
            <a:ext cx="2212848" cy="54864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75520" y="347472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🔄 Cooldown 1.2 sec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75520" y="3858768"/>
            <a:ext cx="202996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Same sign not
repeated within
1.2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Building the training dataset with collect_data.py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411480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</a:rPr>
              <a:t>📋  40 Supported Signs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3749039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109728" cy="78638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💬 Common Phrases 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225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hello, yes, no, thankyou, please
sorry, help, good, bad, 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6352"/>
            <a:ext cx="3749039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16352"/>
            <a:ext cx="109728" cy="78638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7121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😊 Expressions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iloveyou, goodmorning, goodnight
howareyou, 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94176"/>
            <a:ext cx="3749039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94176"/>
            <a:ext cx="109728" cy="78638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🏃 Actions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78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eat, drink, sleep, come, 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3749039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09728" cy="78638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🔤 Alphabet A–J (10)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A, B, C, D, E, F, G, H, I, 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9824"/>
            <a:ext cx="3749039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49824"/>
            <a:ext cx="109728" cy="786384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046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🔢 Numbers 1–10 (10)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33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</a:rPr>
              <a:t>1, 2, 3, 4, 5, 6, 7, 8, 9, 10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371600"/>
            <a:ext cx="3383280" cy="23774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4447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</a:rPr>
              <a:t>📊  Dataset Statistics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874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Total Classes: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8745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40 signs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1762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Samples / Sign: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1762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4780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Total Samples: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478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8,000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7797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Frames / Sample: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779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30 frames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081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Keypoints/Frame: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081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126 (both hands)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Feature Size: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30 × 126 = 3,780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3886200"/>
            <a:ext cx="338328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3959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⌨️  Controls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4370832"/>
            <a:ext cx="658368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439826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44256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Record 1 sample (30 frames)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4864608"/>
            <a:ext cx="658368" cy="3840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8920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919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Move to next sign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5358384"/>
            <a:ext cx="658368" cy="3840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538581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54132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Move to previous sign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0" y="5852160"/>
            <a:ext cx="658368" cy="38404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587959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590702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Quit data collection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66760" y="1371600"/>
            <a:ext cx="3520440" cy="5074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14447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</a:rPr>
              <a:t>💡  Tips for High Quality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03920" y="1938528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13648" y="199339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✅  Good indoor lighting
     (face a window/lamp)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03920" y="2706624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13648" y="2761488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✅  Plain background
     (white wall is best)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03920" y="3474720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13648" y="3529584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✅  Vary hand angle slightly
     between samples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03920" y="4242816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13648" y="429768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✅  Collect 200 samples per
     sign for 95%+ accuracy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03920" y="5010912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13648" y="5065776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❌  Avoid dark rooms or
     cluttered backgrounds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03920" y="5779008"/>
            <a:ext cx="3200400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13648" y="583387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❌  Do not rush — perform
     signs clearly &amp; slowly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LSTM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Stacked LSTM with BatchNorm and Dropout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Model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28800"/>
            <a:ext cx="4206240" cy="1005840"/>
          </a:xfrm>
          <a:prstGeom prst="roundRect">
            <a:avLst/>
          </a:prstGeom>
          <a:solidFill>
            <a:srgbClr val="01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8366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83664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(30, 126)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871216"/>
            <a:ext cx="4206240" cy="786384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3108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LSTM  128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914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return_seq=True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694176"/>
            <a:ext cx="4206240" cy="585216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49040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BatchNorm + Dropout 0.3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315968"/>
            <a:ext cx="4206240" cy="786384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370832"/>
            <a:ext cx="3108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LSTM  256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370832"/>
            <a:ext cx="914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return_seq=True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38928"/>
            <a:ext cx="4206240" cy="585216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93792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BatchNorm + Dropout 0.3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760720"/>
            <a:ext cx="4206240" cy="786384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815584"/>
            <a:ext cx="3108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LSTM  128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815584"/>
            <a:ext cx="914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return_seq=False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583680"/>
            <a:ext cx="4206240" cy="585216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38544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BatchNorm + Dropout 0.3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7205472"/>
            <a:ext cx="4206240" cy="58521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7260336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Dense 256  → ReLU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7260336"/>
            <a:ext cx="914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Dropout 0.4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7827264"/>
            <a:ext cx="4206240" cy="585216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7882128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Dense 128  → ReLU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7882128"/>
            <a:ext cx="914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Dropout 0.3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8449056"/>
            <a:ext cx="4206240" cy="58521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8503920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Dense 40   → Softmax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8503920"/>
            <a:ext cx="914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BDEFB"/>
                </a:solidFill>
              </a:rPr>
              <a:t>Output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138988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Hyperparameters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846320" y="1828800"/>
          <a:ext cx="66751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</a:tblGrid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Input Shape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(30, 126)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LSTM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128 → 256 →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Dense Units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256 → 128 → 40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Adam  lr=0.001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Loss Function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Categorical Cross-Entropy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Max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Batch Size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Patience =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LR Reduction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Factor=0.5, Patience=8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Total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~1.2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Model File Size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~14 MB (.h5)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Best Val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95.9%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49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96.8%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FastAPI server — WebSocket + REST + TTS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🔌  API Endpoints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828800"/>
          <a:ext cx="11338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2560320"/>
                <a:gridCol w="2926080"/>
                <a:gridCol w="34747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Request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WS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/ws/predict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Real-time sign prediction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JSON: {frame: base64}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JSON: {sign, confidence, top5}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/api/tts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Text-to-Speech MP3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JSON: {text, lang, slow}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MP3 audio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/api/signs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List all 40 signs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JSON: {signs[], count}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/api/health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Server health + model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JSON: {status, sign_count}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3977639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059936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⚡  WebSocket Prediction Flow (per frame cycle)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526280"/>
            <a:ext cx="1280160" cy="7132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1. Receive
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4526280"/>
            <a:ext cx="1280160" cy="713232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2. Decode
Base64→BGR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526280"/>
            <a:ext cx="1280160" cy="713232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3. MediaPipe
keypoints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526280"/>
            <a:ext cx="1280160" cy="71323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4. Append
to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26280"/>
            <a:ext cx="1280160" cy="713232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5. Buffer
full? (30)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526280"/>
            <a:ext cx="1280160" cy="7132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6. LSTM
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4526280"/>
            <a:ext cx="1280160" cy="71323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7. Conf
≥ 75%?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5872" y="4727448"/>
            <a:ext cx="237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61320" y="4526280"/>
            <a:ext cx="1280160" cy="713232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8. Send
prediction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5486400"/>
            <a:ext cx="2176272" cy="969264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412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SEQUENCE_LEN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79729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30 frames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1081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Sliding window size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60904" y="5486400"/>
            <a:ext cx="2176272" cy="969264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2344" y="55412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95C"/>
                </a:solidFill>
              </a:rPr>
              <a:t>CONF_THRESHOLD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9729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0.75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2344" y="61081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Minimum confidence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01768" y="5486400"/>
            <a:ext cx="2176272" cy="969264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3208" y="55412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COOLDOWN_SECS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3208" y="579729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1.2 sec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8" y="61081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Anti-duplicate delay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42631" y="5486400"/>
            <a:ext cx="2176272" cy="969264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4071" y="55412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</a:rPr>
              <a:t>MAX_NUM_HANDS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4071" y="579729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4071" y="61081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Both hands detected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83496" y="5486400"/>
            <a:ext cx="2176272" cy="969264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74936" y="55412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FPS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4936" y="579729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15 fps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4936" y="61081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57575"/>
                </a:solidFill>
              </a:rPr>
              <a:t>Frame capture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Frontend — React.js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Modern dark glassmorphism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89888"/>
            <a:ext cx="5623560" cy="5074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5623560" cy="43891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🤟  SignAI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463040"/>
            <a:ext cx="658368" cy="256032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46304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57575"/>
                </a:solidFill>
              </a:rPr>
              <a:t>40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822960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AI Powered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901952"/>
            <a:ext cx="5349240" cy="292608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2024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D32"/>
                </a:solidFill>
              </a:rPr>
              <a:t>●  Connected        ✋  Hand Detected        WebSocket: Active  |  15 fps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67712"/>
            <a:ext cx="1371600" cy="29260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677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🤟 Translator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267712"/>
            <a:ext cx="1188720" cy="292608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2677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</a:rPr>
              <a:t>📖 Sign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2542032" cy="1920240"/>
          </a:xfrm>
          <a:prstGeom prst="roundRect">
            <a:avLst/>
          </a:prstGeom>
          <a:solidFill>
            <a:srgbClr val="0A0A0F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25420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2724912"/>
            <a:ext cx="566928" cy="21945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72491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⬤ 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62272"/>
            <a:ext cx="1188720" cy="256032"/>
          </a:xfrm>
          <a:prstGeom prst="roundRect">
            <a:avLst/>
          </a:prstGeom>
          <a:solidFill>
            <a:srgbClr val="45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622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</a:rPr>
              <a:t>⏹ 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4462272"/>
            <a:ext cx="1005840" cy="256032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462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1F5F9"/>
                </a:solidFill>
              </a:rPr>
              <a:t>↔ Mirror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2651760"/>
            <a:ext cx="2542032" cy="1572768"/>
          </a:xfrm>
          <a:prstGeom prst="roundRect">
            <a:avLst/>
          </a:prstGeom>
          <a:solidFill>
            <a:srgbClr val="1E1B4B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78892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818CF8"/>
                </a:solidFill>
              </a:rPr>
              <a:t>hello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3657600"/>
            <a:ext cx="2011680" cy="14630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46120" y="3657600"/>
            <a:ext cx="1901952" cy="1463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639312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</a:rPr>
              <a:t>96.2%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00600"/>
            <a:ext cx="5166360" cy="1444752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💬 Sentence Builder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1325880" cy="29260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4865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hello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212080"/>
            <a:ext cx="132588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24865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thankyou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212080"/>
            <a:ext cx="132588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524865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596128"/>
            <a:ext cx="749808" cy="2560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9612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🔊 Speak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5596128"/>
            <a:ext cx="594360" cy="256032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5961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</a:rPr>
              <a:t>📋 Copy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57400" y="5596128"/>
            <a:ext cx="594360" cy="256032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55961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57575"/>
                </a:solidFill>
              </a:rPr>
              <a:t>⌫ Undo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13898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UI Components &amp; Features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874519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1874519"/>
            <a:ext cx="265176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1928" y="1984247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📷 Camera Panel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1928" y="2350007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Live webcam feed with MediaPipe green
skeleton overlay on both hands.
Start/Stop/Mirror controls.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25128" y="1874519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25128" y="1874519"/>
            <a:ext cx="2651760" cy="5486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34856" y="1984247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🔤 Sign Display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2350007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Detected sign in large gradient text with
animated confidence bar + Top-5
predictions list.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3474720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72200" y="3474720"/>
            <a:ext cx="2651760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1928" y="358444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💬 Sentence Builder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928" y="3950208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Auto-adds signs as coloured word chips.
Toggle Word / Sentence mode.
Click chip to remove 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25128" y="3474720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25128" y="3474720"/>
            <a:ext cx="2651760" cy="548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4856" y="358444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🔊 Text-to-Speech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4856" y="3950208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Speaks full sentence via Google TTS.
Browser SpeechSynthesis fallback.
Works offline too.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5074920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5074920"/>
            <a:ext cx="2651760" cy="54864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1928" y="518464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📖 Sign Dictionary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81928" y="5550408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Browse all 40 signs by category.
Search box for quick lookup.
Emoji + name cards.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25128" y="5074920"/>
            <a:ext cx="2651760" cy="1481328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25128" y="5074920"/>
            <a:ext cx="2651760" cy="54864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34856" y="518464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📊 Status Bar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34856" y="5550408"/>
            <a:ext cx="2432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Live WebSocket connection status.
Hand detected indicator.
FPS and model info.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What makes SignAI stand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17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63347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16152" y="1554480"/>
            <a:ext cx="82296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1581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</a:rPr>
              <a:t>Real-Time
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35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Live webcam sign detection
at 15 fps with ~67ms
end-to-end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8382400040" y="1417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08382400040" y="1417320"/>
            <a:ext cx="2633472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08383296152" y="1554480"/>
            <a:ext cx="822960" cy="8229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8383296152" y="1581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✋✋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8382491480" y="2441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95C"/>
                </a:solidFill>
              </a:rPr>
              <a:t>Dual-Hand
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8382491480" y="2935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Both hands detected
simultaneously — 126
keypoints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6764480040" y="1417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16764480040" y="1417320"/>
            <a:ext cx="2633472" cy="548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16765376152" y="1554480"/>
            <a:ext cx="82296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6765376152" y="1581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6764571480" y="2441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95%+
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6764571480" y="2935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Stacked LSTM model
trained on 8,000 samples
across 40 sign 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146560040" y="1417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25146560040" y="1417320"/>
            <a:ext cx="2633472" cy="5486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25147456152" y="1554480"/>
            <a:ext cx="822960" cy="8229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147456152" y="1581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146651480" y="2441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</a:rPr>
              <a:t>Text-to-Speech
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146651480" y="2935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Google TTS generates
natural MP3 speech
from detected sentences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2215738921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215738921320"/>
            <a:ext cx="2633472" cy="54864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16152" y="2215739058480"/>
            <a:ext cx="82296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2215739085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215739945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A1B9A"/>
                </a:solidFill>
              </a:rPr>
              <a:t>Sentence
Builder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215740439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Word chips + Sentence mode
Quick-Add buttons, Copy,
Undo and Clear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08382400040" y="2215738921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08382400040" y="2215738921320"/>
            <a:ext cx="2633472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08383296152" y="2215739058480"/>
            <a:ext cx="822960" cy="82296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8383296152" y="2215739085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8382491480" y="2215739945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95C"/>
                </a:solidFill>
              </a:rPr>
              <a:t>No Special
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8382491480" y="2215740439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Works on any standard
RGB webcam — no gloves,
no depth sensors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16764480040" y="2215738921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16764480040" y="2215738921320"/>
            <a:ext cx="2633472" cy="54864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16765376152" y="2215739058480"/>
            <a:ext cx="822960" cy="8229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6765376152" y="2215739085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6764571480" y="2215739945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</a:rPr>
              <a:t>Web
Application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6764571480" y="2215740439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React.js frontend runs in
any modern browser
No installation required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25146560040" y="2215738921320"/>
            <a:ext cx="2633472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25146560040" y="2215738921320"/>
            <a:ext cx="2633472" cy="54864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25147456152" y="2215739058480"/>
            <a:ext cx="822960" cy="8229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5147456152" y="22157390859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5146651480" y="2215739945448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5100"/>
                </a:solidFill>
              </a:rPr>
              <a:t>Confidence
Scores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5146651480" y="2215740439224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Real-time confidence bar
with Top-5 predictions
and threshold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&amp;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Model performance on 40-class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89888"/>
            <a:ext cx="18288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89888"/>
            <a:ext cx="1828800" cy="11887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Validation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389888"/>
            <a:ext cx="1828800" cy="11887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Macro 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19" y="1389888"/>
            <a:ext cx="1828800" cy="1188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96.3%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Macro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389888"/>
            <a:ext cx="1828800" cy="11887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96.4%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Macro F1-Score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389888"/>
            <a:ext cx="1828800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~67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1396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8CF8"/>
                </a:solidFill>
              </a:rPr>
              <a:t>End-to-End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9748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346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Per-Sign Accuracy (Top 10 Signs)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3273552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45920" y="3273552"/>
            <a:ext cx="4053078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32841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hello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2150" y="33284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98.5%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3694176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645920" y="3694176"/>
            <a:ext cx="4024274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74904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A (alpha)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3346" y="37490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97.8%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4114800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45920" y="4114800"/>
            <a:ext cx="4036618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169664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1 (num)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5690" y="41696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98.1%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0" y="4535424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45920" y="4535424"/>
            <a:ext cx="3999585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9028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iloveyou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8657" y="45902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97.2%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0" y="4956048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645920" y="4956048"/>
            <a:ext cx="3983126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01091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thankyou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02198" y="50109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96.8%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45920" y="5376672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645920" y="5376672"/>
            <a:ext cx="3970782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43153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89854" y="54315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</a:rPr>
              <a:t>96.5%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45920" y="5797296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645920" y="5797296"/>
            <a:ext cx="3921404" cy="34747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85216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howareyou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0476" y="5852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95.3%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45920" y="6217920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645920" y="6217920"/>
            <a:ext cx="3913174" cy="34747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6272784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goodmorning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2246" y="627278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95.1%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645920" y="6638544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645920" y="6638544"/>
            <a:ext cx="3892600" cy="34747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69340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eat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11672" y="6693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</a:rPr>
              <a:t>94.6%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45920" y="7059168"/>
            <a:ext cx="41148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645920" y="7059168"/>
            <a:ext cx="3859682" cy="34747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711403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4242"/>
                </a:solidFill>
              </a:rPr>
              <a:t>drink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8754" y="71140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</a:rPr>
              <a:t>93.8%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28346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Classification Report (Sample)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6172200" y="3273552"/>
          <a:ext cx="53949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51560"/>
                <a:gridCol w="1051560"/>
                <a:gridCol w="91440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hello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iloveyou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goodmorning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 (letter)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 (number)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drink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Macro Avg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0.963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7,200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Weighted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Comparison with Existing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How SignAI compares to related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17320"/>
          <a:ext cx="8869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85800"/>
                <a:gridCol w="685800"/>
                <a:gridCol w="960120"/>
                <a:gridCol w="1097280"/>
                <a:gridCol w="1097280"/>
                <a:gridCol w="868680"/>
                <a:gridCol w="109728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System / Paper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Signs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 Hands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Web App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Pugeault &amp; Bowden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2011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79.3%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Oyedele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Rastgoo et al.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89.7%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⚠️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Jiang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Taskiran et al.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96.8%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SignAI (This Work)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96.8%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34340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43484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✨  SignAI Unique Advantages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919472"/>
            <a:ext cx="2176272" cy="15361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919472"/>
            <a:ext cx="2176272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4992624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95C"/>
                </a:solidFill>
              </a:rPr>
              <a:t>🤟 Only system with
Dual-Hand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62356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126 keypoints/frame
vs 63 in single-hand
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60904" y="4919472"/>
            <a:ext cx="2176272" cy="15361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0904" y="4919472"/>
            <a:ext cx="2176272" cy="5486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4992624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🔊 Integrated
Text-to-Speech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562356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Google TTS + browser
fallback — no other
system has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1768" y="4919472"/>
            <a:ext cx="2176272" cy="15361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4919472"/>
            <a:ext cx="217627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4992624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366F1"/>
                </a:solidFill>
              </a:rPr>
              <a:t>💬 Real-Time
Sentence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562356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Word chips + speech
ouput in a single
web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4919472"/>
            <a:ext cx="2176272" cy="15361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2631" y="4919472"/>
            <a:ext cx="2176272" cy="54864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59" y="4992624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</a:rPr>
              <a:t>🌐 Full Web App
No Installation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562356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React + FastAPI —
accessible from any
modern browser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4919472"/>
            <a:ext cx="2176272" cy="15361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83496" y="4919472"/>
            <a:ext cx="2176272" cy="54864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3224" y="4992624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A1B9A"/>
                </a:solidFill>
              </a:rPr>
              <a:t>📦 Open Source
Reproducible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562356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Complete data pipeline
and training code
openly available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Roadmap for next version of SignAI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389888"/>
            <a:ext cx="2779776" cy="71323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26464"/>
            <a:ext cx="27797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🚀  Phase 1
(3–6 months)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2139696"/>
            <a:ext cx="2779776" cy="4572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7627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Expand Vocabulary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2633472"/>
            <a:ext cx="2779776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74320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Scale to 500+ ASL signs using Google Kaggle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29184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Add Indian Sign Language (ISL)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384048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Improve accuracy on confused sign pairs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1" y="1389888"/>
            <a:ext cx="2779776" cy="713232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1" y="1426464"/>
            <a:ext cx="27797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📱  Phase 2
(6–12 months)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1" y="2139696"/>
            <a:ext cx="2779776" cy="4572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1" y="217627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Platform &amp;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3551" y="2633472"/>
            <a:ext cx="2779776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79" y="274320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Build Android/iOS app with TensorFlow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29184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Real-time mobile inference (on-device)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84048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Model quantization &amp; compression (~3 MB)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389888"/>
            <a:ext cx="2779776" cy="7132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1426464"/>
            <a:ext cx="27797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🧠  Phase 3
(12–18 months)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139696"/>
            <a:ext cx="2779776" cy="4572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17627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Advanced AI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633472"/>
            <a:ext cx="2779776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74320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Continuous SLR with CTC decoding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329184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Facial expression + body pose recognition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384048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Transformer architecture for higher accuracy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1389888"/>
            <a:ext cx="2779776" cy="71323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426464"/>
            <a:ext cx="27797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🌍  Phase 4
(18–24 months)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2139696"/>
            <a:ext cx="2779776" cy="4572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17627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</a:rPr>
              <a:t>Full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2633472"/>
            <a:ext cx="2779776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274320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Bidirectional translation (text → sign animation)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29184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Multi-language TTS (Hindi, Marathi, etc.)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840480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▸  AR glasses / VR environment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17720"/>
            <a:ext cx="1145743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700016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Other Planned Improvements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20040" y="5138928"/>
          <a:ext cx="103327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303520"/>
                <a:gridCol w="1463040"/>
                <a:gridCol w="1463040"/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Enhancement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Multi-language TTS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Add Hindi, Marathi regional TTS outputs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Sign Learning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Interactive animated sign tutorial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Cloud Deployment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Docker + cloud hosting for public access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Dataset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ISL + BSL + custom phrase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</a:rPr>
              <a:t>Summary of SignAI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AI Sign Language Translator  |  Final Year Project  |  Himanshu Jagdish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✅  What We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874519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874519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47671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929383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40-Sign Real-Time Translator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85415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Detects 40 ASL signs via standard webcam
with no specialised hardware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551175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2551175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24327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06039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96.8% Test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862071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Stacked LSTM with BatchNorm + Dropout
trained on 8,000 dual-hand keypoint sequences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227831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" y="3227831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300983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✋✋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282695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Dual-Hand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7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126 keypoints per frame (63 per hand)
Missing hand automatically zero-padded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904487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3904487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977639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959351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67ms End-to-End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215383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Real-time WebSocket streaming at 15 fps
far below the 200ms usability threshold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581143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" y="4581143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654295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636007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Text-to-Speech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892039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Google TTS + browser fallback ensures
speech output works online and offline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257799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" y="5257799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330951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5312663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Sentence 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5568695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Word chips + Sentence mode + Quick Add
with Copy, Undo, and Clear controls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934455"/>
            <a:ext cx="5760720" cy="603504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0040" y="5934455"/>
            <a:ext cx="475488" cy="603504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007607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5989319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7E"/>
                </a:solidFill>
              </a:rPr>
              <a:t>Full-Stack Web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6245351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</a:rPr>
              <a:t>React.js + FastAPI — accessible from
any modern browser, no installation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1828800"/>
            <a:ext cx="11457432" cy="36576"/>
          </a:xfrm>
          <a:prstGeom prst="rect">
            <a:avLst/>
          </a:prstGeom>
          <a:solidFill>
            <a:srgbClr val="757575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1389888"/>
            <a:ext cx="36576" cy="5120640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📈  Project Impact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1901952"/>
            <a:ext cx="2606040" cy="2029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1901952"/>
            <a:ext cx="2606040" cy="54864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223760" y="2011680"/>
            <a:ext cx="713232" cy="713232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2029968"/>
            <a:ext cx="713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Assistive Technology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145536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Enables deaf and hearing-impaired individuals to communicate naturally with hearing people using everyday devices.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80" y="1901952"/>
            <a:ext cx="2606040" cy="2029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8280" y="1901952"/>
            <a:ext cx="2606040" cy="54864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12680" y="2011680"/>
            <a:ext cx="713232" cy="71323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2680" y="2029968"/>
            <a:ext cx="713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27980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Education &amp; Awareness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3145536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SignAI can be used as a learning tool to help hearing people practice and learn ASL sign language.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4114800"/>
            <a:ext cx="2606040" cy="2029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4114800"/>
            <a:ext cx="2606040" cy="54864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223760" y="4224528"/>
            <a:ext cx="713232" cy="71323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4242816"/>
            <a:ext cx="713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010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Research Foundation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35838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Open-source reproducible pipeline with data collection, training, and inference code for future researchers.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114800"/>
            <a:ext cx="2606040" cy="2029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4114800"/>
            <a:ext cx="2606040" cy="54864"/>
          </a:xfrm>
          <a:prstGeom prst="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12680" y="4224528"/>
            <a:ext cx="713232" cy="71323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12680" y="4242816"/>
            <a:ext cx="7132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5010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Industry Ready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35838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4242"/>
                </a:solidFill>
              </a:rPr>
              <a:t>Deployable via Docker / cloud hosting — potential integration into healthcare, education, and public services.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029200" cy="678484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73152"/>
            <a:ext cx="54864" cy="678484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8288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818CF8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743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BDEFB"/>
                </a:solidFill>
              </a:rPr>
              <a:t>for your time and 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32004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547872"/>
            <a:ext cx="1426464" cy="40233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8444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40 Signs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547872"/>
            <a:ext cx="1426464" cy="40233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58444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96.8%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3547872"/>
            <a:ext cx="1426464" cy="402336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358444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Both Hands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59935"/>
            <a:ext cx="1426464" cy="402336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1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Real-Time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059935"/>
            <a:ext cx="1426464" cy="40233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096511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TTS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4059935"/>
            <a:ext cx="1426464" cy="402336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4096511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029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818CF8"/>
                </a:solidFill>
              </a:rPr>
              <a:t>SignAI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29844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Real-Time AI Sign Language Translator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1783080"/>
            <a:ext cx="649224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49240" y="1920240"/>
            <a:ext cx="6492240" cy="192024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02996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202996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Himanshu Jagdish Patil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36829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236829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B.Tech CSE (AI &amp; ML)  |  Roll: CS2024001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70662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70662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himanshujagdishpatil914@gmail.com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04495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8" y="304495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github.com/himanshujagdishpatil914/Himanshu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38328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👨‍🏫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38328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Guide: Prof. [Guide Name]  |  Co-Guide: Prof. [Name]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9240" y="3977639"/>
            <a:ext cx="3127248" cy="1481328"/>
          </a:xfrm>
          <a:prstGeom prst="roundRect">
            <a:avLst/>
          </a:prstGeom>
          <a:solidFill>
            <a:srgbClr val="1A237E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041648"/>
            <a:ext cx="2944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❓  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4443984"/>
            <a:ext cx="29443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Open for Q&amp;A
Please feel free to ask
about any part of SignAI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3977639"/>
            <a:ext cx="3127248" cy="1481328"/>
          </a:xfrm>
          <a:prstGeom prst="roundRect">
            <a:avLst/>
          </a:prstGeom>
          <a:solidFill>
            <a:srgbClr val="00695C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4041648"/>
            <a:ext cx="2944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🎬  Live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443984"/>
            <a:ext cx="29443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DFDB"/>
                </a:solidFill>
              </a:rPr>
              <a:t>Start the app at:
localhost:3000
Ready to demonstrate!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9240" y="5577840"/>
            <a:ext cx="6492240" cy="868680"/>
          </a:xfrm>
          <a:prstGeom prst="roundRect">
            <a:avLst/>
          </a:prstGeom>
          <a:solidFill>
            <a:srgbClr val="1E293B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5650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18CF8"/>
                </a:solidFill>
              </a:rPr>
              <a:t>📁  Project Repository: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65099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github.com/himanshujagdishpatil914/Himanshu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9801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CAF9"/>
                </a:solidFill>
              </a:rPr>
              <a:t>⭐  Source code  |  📄 Report  |  📊 Presentation  |  🖼️ Screenshots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18CF8"/>
                </a:solidFill>
              </a:rPr>
              <a:t>SignAI  |  Final Year Project  |  CSE (AI &amp; ML)  |  Himanshu Jagdish Patil  |  2024–25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